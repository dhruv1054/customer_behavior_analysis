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E6B8B"/>
              </a:solidFill>
              <a:effectLst/>
            </c:spPr>
          </c:dPt>
          <c:dPt>
            <c:idx val="1"/>
            <c:bubble3D val="0"/>
            <c:spPr>
              <a:solidFill>
                <a:srgbClr val="16A08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52</c:v>
                </c:pt>
                <c:pt idx="1">
                  <c:v>48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101" y="1524000"/>
            <a:ext cx="571500" cy="38100"/>
          </a:xfrm>
          <a:prstGeom prst="rect">
            <a:avLst/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83503" y="1828800"/>
            <a:ext cx="557669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Shopping Behavior Analysis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463256" y="3276600"/>
            <a:ext cx="82173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Uncovering insights from 3,900 purchases to guide strategic business decisions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71500" cy="38100"/>
          </a:xfrm>
          <a:prstGeom prst="rect">
            <a:avLst/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71500"/>
            <a:ext cx="4206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3600" dirty="0"/>
          </a:p>
        </p:txBody>
      </p:sp>
      <p:pic>
        <p:nvPicPr>
          <p:cNvPr id="4" name="Image 0" descr="/tmp/rasterized-gradient-00e1c26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14550"/>
            <a:ext cx="2540050" cy="20193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1845" y="2343150"/>
            <a:ext cx="17506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3,900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035982" y="3181350"/>
            <a:ext cx="1382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Purchases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8010" y="3676650"/>
            <a:ext cx="19582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transaction data</a:t>
            </a:r>
            <a:endParaRPr lang="en-US" sz="1050" dirty="0"/>
          </a:p>
        </p:txBody>
      </p:sp>
      <p:pic>
        <p:nvPicPr>
          <p:cNvPr id="8" name="Image 1" descr="/tmp/rasterized-gradient-d042f2d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50" y="2019300"/>
            <a:ext cx="2540050" cy="2209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82925" y="2247900"/>
            <a:ext cx="7781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3956432" y="3086100"/>
            <a:ext cx="1231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Columns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509821" y="3581400"/>
            <a:ext cx="212450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demographics &amp; behavior</a:t>
            </a:r>
            <a:endParaRPr lang="en-US" sz="1050" dirty="0"/>
          </a:p>
        </p:txBody>
      </p:sp>
      <p:pic>
        <p:nvPicPr>
          <p:cNvPr id="12" name="Image 2" descr="/tmp/rasterized-gradient-30f105d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99" y="2114550"/>
            <a:ext cx="2540050" cy="2019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27774" y="2343150"/>
            <a:ext cx="7781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5400" dirty="0"/>
          </a:p>
        </p:txBody>
      </p:sp>
      <p:sp>
        <p:nvSpPr>
          <p:cNvPr id="14" name="Text 9"/>
          <p:cNvSpPr/>
          <p:nvPr/>
        </p:nvSpPr>
        <p:spPr>
          <a:xfrm>
            <a:off x="6770617" y="3181350"/>
            <a:ext cx="1292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509665" y="3676650"/>
            <a:ext cx="18143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in Review Rating column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71500" cy="38100"/>
          </a:xfrm>
          <a:prstGeom prst="rect">
            <a:avLst/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71500"/>
            <a:ext cx="5683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 Process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23950"/>
            <a:ext cx="428625" cy="428625"/>
          </a:xfrm>
          <a:prstGeom prst="roundRect">
            <a:avLst>
              <a:gd name="adj" fmla="val 213333"/>
            </a:avLst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5547" y="1204913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38225" y="1123950"/>
            <a:ext cx="7648575" cy="914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57275" y="1123950"/>
            <a:ext cx="0" cy="9144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1314450"/>
            <a:ext cx="73740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Loading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6825" y="1619250"/>
            <a:ext cx="73740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dataset using pandas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14550"/>
            <a:ext cx="428625" cy="428625"/>
          </a:xfrm>
          <a:prstGeom prst="roundRect">
            <a:avLst>
              <a:gd name="adj" fmla="val 213333"/>
            </a:avLst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5547" y="2195513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38225" y="2114550"/>
            <a:ext cx="7648575" cy="914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057275" y="2114550"/>
            <a:ext cx="0" cy="9144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6825" y="2305050"/>
            <a:ext cx="73740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Exploration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66825" y="2609850"/>
            <a:ext cx="73740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check and summary statistics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05150"/>
            <a:ext cx="428625" cy="428625"/>
          </a:xfrm>
          <a:prstGeom prst="roundRect">
            <a:avLst>
              <a:gd name="adj" fmla="val 213333"/>
            </a:avLst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5547" y="3186113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38225" y="3105150"/>
            <a:ext cx="7648575" cy="914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057275" y="3105150"/>
            <a:ext cx="0" cy="9144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6825" y="3295650"/>
            <a:ext cx="73740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 Handling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66825" y="3600450"/>
            <a:ext cx="73740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Imputed Review Rating with median values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095750"/>
            <a:ext cx="428625" cy="428625"/>
          </a:xfrm>
          <a:prstGeom prst="roundRect">
            <a:avLst>
              <a:gd name="adj" fmla="val 213333"/>
            </a:avLst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5547" y="4176712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38225" y="4095750"/>
            <a:ext cx="3381375" cy="8763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1057275" y="4095750"/>
            <a:ext cx="0" cy="8763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6825" y="4286250"/>
            <a:ext cx="30215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66825" y="4591050"/>
            <a:ext cx="3021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age groups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24400" y="4095750"/>
            <a:ext cx="428625" cy="428625"/>
          </a:xfrm>
          <a:prstGeom prst="roundRect">
            <a:avLst>
              <a:gd name="adj" fmla="val 213333"/>
            </a:avLst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32747" y="4176712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05425" y="4095750"/>
            <a:ext cx="3381375" cy="8763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324475" y="4095750"/>
            <a:ext cx="0" cy="8763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4025" y="4286250"/>
            <a:ext cx="30215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534025" y="4591050"/>
            <a:ext cx="3021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connection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71500" cy="38100"/>
          </a:xfrm>
          <a:prstGeom prst="rect">
            <a:avLst/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71500"/>
            <a:ext cx="6412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Gender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42195"/>
            <a:ext cx="3962400" cy="1428750"/>
          </a:xfrm>
          <a:prstGeom prst="roundRect">
            <a:avLst>
              <a:gd name="adj" fmla="val 8533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1842195"/>
            <a:ext cx="0" cy="142875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2070795"/>
            <a:ext cx="35364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23900" y="2527995"/>
            <a:ext cx="353644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customers generate slightly higher total revenue than male customers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423345"/>
            <a:ext cx="3962400" cy="906661"/>
          </a:xfrm>
          <a:prstGeom prst="roundRect">
            <a:avLst>
              <a:gd name="adj" fmla="val 13447"/>
            </a:avLst>
          </a:prstGeom>
          <a:solidFill>
            <a:srgbClr val="FFFFFF"/>
          </a:solidFill>
          <a:ln w="19050">
            <a:solidFill>
              <a:srgbClr val="FE6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750" y="3632895"/>
            <a:ext cx="361416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Gender-based marketing strategies could optimize revenue streams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724400" y="1765250"/>
          <a:ext cx="3962400" cy="26415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71500" cy="38100"/>
          </a:xfrm>
          <a:prstGeom prst="rect">
            <a:avLst/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71500"/>
            <a:ext cx="59653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Discount Users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using discounts while spending above average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061270"/>
            <a:ext cx="3810000" cy="2468761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tmp/rasterized-gradient-30743b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2385120"/>
            <a:ext cx="762000" cy="76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908" y="263277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427" y="3299520"/>
            <a:ext cx="32255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Shoppers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427" y="3718620"/>
            <a:ext cx="322554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spenders who maximize value with discounts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76800" y="2061270"/>
            <a:ext cx="3810000" cy="2468761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tmp/rasterized-gradient-5ff9bc0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85120"/>
            <a:ext cx="762000" cy="762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60508" y="263277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169027" y="3299520"/>
            <a:ext cx="32255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169027" y="3718620"/>
            <a:ext cx="322554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premium customers with exclusive offers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71500" cy="38100"/>
          </a:xfrm>
          <a:prstGeom prst="rect">
            <a:avLst/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71500"/>
            <a:ext cx="4430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Top-Rated Products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38350"/>
            <a:ext cx="2540050" cy="20955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rasterized-gradient-31a2511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1400" y="2286000"/>
            <a:ext cx="571500" cy="57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73108" y="24384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4403" y="2971800"/>
            <a:ext cx="20856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4403" y="3314700"/>
            <a:ext cx="20856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Blouse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4403" y="3695700"/>
            <a:ext cx="20856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customer satisfaction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302050" y="2038350"/>
            <a:ext cx="2540050" cy="20955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tmp/rasterized-gradient-6c3e643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2286000"/>
            <a:ext cx="571500" cy="571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7958" y="24384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29252" y="2971800"/>
            <a:ext cx="20856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29252" y="3314700"/>
            <a:ext cx="20856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Dress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529252" y="3695700"/>
            <a:ext cx="20856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Consistently excellent reviews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146899" y="2038350"/>
            <a:ext cx="2540050" cy="20955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/tmp/rasterized-gradient-1a2a6df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100" y="2286000"/>
            <a:ext cx="571500" cy="5715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62807" y="24384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74102" y="2971800"/>
            <a:ext cx="20856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74102" y="3314700"/>
            <a:ext cx="20856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Shirt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374102" y="3695700"/>
            <a:ext cx="20856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customer approval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71500" cy="38100"/>
          </a:xfrm>
          <a:prstGeom prst="rect">
            <a:avLst/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71500"/>
            <a:ext cx="6431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Preferences Impact</a:t>
            </a:r>
            <a:endParaRPr lang="en-US" sz="3600" dirty="0"/>
          </a:p>
        </p:txBody>
      </p:sp>
      <p:pic>
        <p:nvPicPr>
          <p:cNvPr id="4" name="Image 0" descr="/tmp/rasterized-gradient-c43e58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02110"/>
            <a:ext cx="3810000" cy="2301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996" y="1706910"/>
            <a:ext cx="32644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Shipping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29996" y="2164110"/>
            <a:ext cx="326440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29996" y="3169890"/>
            <a:ext cx="326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purchase amount</a:t>
            </a:r>
            <a:endParaRPr lang="en-US" sz="1200" dirty="0"/>
          </a:p>
        </p:txBody>
      </p:sp>
      <p:pic>
        <p:nvPicPr>
          <p:cNvPr id="8" name="Image 1" descr="/tmp/rasterized-gradient-ff3e095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402110"/>
            <a:ext cx="3810000" cy="2301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49596" y="1706910"/>
            <a:ext cx="32644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Shipping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149596" y="2164110"/>
            <a:ext cx="326440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</a:t>
            </a:r>
            <a:endParaRPr lang="en-US" sz="4800" dirty="0"/>
          </a:p>
        </p:txBody>
      </p:sp>
      <p:sp>
        <p:nvSpPr>
          <p:cNvPr id="11" name="Text 7"/>
          <p:cNvSpPr/>
          <p:nvPr/>
        </p:nvSpPr>
        <p:spPr>
          <a:xfrm>
            <a:off x="5149596" y="3169890"/>
            <a:ext cx="326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purchase amount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4008090"/>
            <a:ext cx="8229600" cy="762000"/>
          </a:xfrm>
          <a:prstGeom prst="roundRect">
            <a:avLst>
              <a:gd name="adj" fmla="val 16000"/>
            </a:avLst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08076" y="4236690"/>
            <a:ext cx="79278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shipping customers spend 12% more per transaction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71500" cy="38100"/>
          </a:xfrm>
          <a:prstGeom prst="rect">
            <a:avLst/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71500"/>
            <a:ext cx="4488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Impact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4950"/>
            <a:ext cx="2336750" cy="3162300"/>
          </a:xfrm>
          <a:prstGeom prst="roundRect">
            <a:avLst>
              <a:gd name="adj" fmla="val 5218"/>
            </a:avLst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8251" y="1752600"/>
            <a:ext cx="1714500" cy="171450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7620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80977" y="2236440"/>
            <a:ext cx="1089047" cy="74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880"/>
              </a:lnSpc>
              <a:buNone/>
            </a:pPr>
            <a:r>
              <a:rPr lang="en-US" sz="4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6435" y="3619500"/>
            <a:ext cx="1878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Spend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6435" y="3962400"/>
            <a:ext cx="187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Subscribers vs non-subscribers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03550" y="1504950"/>
            <a:ext cx="2336750" cy="3162300"/>
          </a:xfrm>
          <a:prstGeom prst="roundRect">
            <a:avLst>
              <a:gd name="adj" fmla="val 5218"/>
            </a:avLst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14601" y="1752600"/>
            <a:ext cx="1714500" cy="171450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7620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27328" y="2236440"/>
            <a:ext cx="1089047" cy="74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880"/>
              </a:lnSpc>
              <a:buNone/>
            </a:pPr>
            <a:r>
              <a:rPr lang="en-US" sz="4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632786" y="3619500"/>
            <a:ext cx="1878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Share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2786" y="3962400"/>
            <a:ext cx="187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subscription customers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49901" y="1504950"/>
            <a:ext cx="2336750" cy="3162300"/>
          </a:xfrm>
          <a:prstGeom prst="roundRect">
            <a:avLst>
              <a:gd name="adj" fmla="val 5218"/>
            </a:avLst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60952" y="1752600"/>
            <a:ext cx="1714500" cy="171450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7620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73678" y="2236440"/>
            <a:ext cx="1089047" cy="74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880"/>
              </a:lnSpc>
              <a:buNone/>
            </a:pPr>
            <a:r>
              <a:rPr lang="en-US" sz="4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579136" y="3619500"/>
            <a:ext cx="1878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Rate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79136" y="3962400"/>
            <a:ext cx="187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purchase frequency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71500" cy="38100"/>
          </a:xfrm>
          <a:prstGeom prst="rect">
            <a:avLst/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71500"/>
            <a:ext cx="53921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85900"/>
            <a:ext cx="8229600" cy="49530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39100" y="165735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4242" y="176212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850" y="1733550"/>
            <a:ext cx="788898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9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4850" y="2274540"/>
            <a:ext cx="7888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- High value customers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8229600" cy="49530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39100" y="245745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4242" y="256222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850" y="2533650"/>
            <a:ext cx="788898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9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4850" y="3074640"/>
            <a:ext cx="7888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- Regular shoppers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086100"/>
            <a:ext cx="8229600" cy="49530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39100" y="325755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4242" y="336232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850" y="3333750"/>
            <a:ext cx="788898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9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4850" y="3874740"/>
            <a:ext cx="7888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- First-time buyers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4038600"/>
            <a:ext cx="8229600" cy="647700"/>
          </a:xfrm>
          <a:prstGeom prst="roundRect">
            <a:avLst>
              <a:gd name="adj" fmla="val 18824"/>
            </a:avLst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9214" y="4229100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converting New to Returning, Returning to Loyal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71500" cy="38100"/>
          </a:xfrm>
          <a:prstGeom prst="rect">
            <a:avLst/>
          </a:prstGeom>
          <a:solidFill>
            <a:srgbClr val="FE6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71500"/>
            <a:ext cx="630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09700"/>
            <a:ext cx="8229600" cy="76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rasterized-gradient-4c3004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1543050"/>
            <a:ext cx="428625" cy="4286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949" y="1624013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33475" y="1543050"/>
            <a:ext cx="25551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3475" y="1847850"/>
            <a:ext cx="25551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exclusive benefits for subscribers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2247900"/>
            <a:ext cx="8229600" cy="76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/tmp/rasterized-gradient-190802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2381250"/>
            <a:ext cx="428625" cy="4286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949" y="2462213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133475" y="2381250"/>
            <a:ext cx="26084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33475" y="2686050"/>
            <a:ext cx="26084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repeat buyers to increase retention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3086100"/>
            <a:ext cx="8229600" cy="76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tmp/rasterized-gradient-0a405b9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3219450"/>
            <a:ext cx="428625" cy="4286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949" y="3300413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133475" y="3219450"/>
            <a:ext cx="2018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33475" y="3524250"/>
            <a:ext cx="20188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high-revenue segments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3924300"/>
            <a:ext cx="8229600" cy="76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3" descr="/tmp/rasterized-gradient-8ee787d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4057650"/>
            <a:ext cx="428625" cy="4286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949" y="4138613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133475" y="4057650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133475" y="4362450"/>
            <a:ext cx="16710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top-rated products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2025-11-13T18:00:46Z</dcterms:created>
  <dcterms:modified xsi:type="dcterms:W3CDTF">2025-11-13T18:00:46Z</dcterms:modified>
</cp:coreProperties>
</file>